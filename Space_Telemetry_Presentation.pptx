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52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74320"/>
            <a:ext cx="8869680" cy="1143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00200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Real Time Anomaly Detection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Autonomous Decision Support System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0080" y="2944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 Space Missions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200400" y="3657600"/>
            <a:ext cx="5760720" cy="274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82219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E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Purushothaman S  |  M25DE1033  |  M.Tech — Data Engineering  |  IIT Jodhpur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411480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Space Academy  |  AI &amp; Machine Learning in Space Exploration  |  2025 – 2026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05840" y="4736592"/>
            <a:ext cx="1828800" cy="749808"/>
          </a:xfrm>
          <a:prstGeom prst="rect">
            <a:avLst/>
          </a:prstGeom>
          <a:solidFill>
            <a:srgbClr val="122C48"/>
          </a:solidFill>
          <a:ln w="635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05840" y="4754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05840" y="5120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017520" y="4736592"/>
            <a:ext cx="1828800" cy="749808"/>
          </a:xfrm>
          <a:prstGeom prst="rect">
            <a:avLst/>
          </a:prstGeom>
          <a:solidFill>
            <a:srgbClr val="122C48"/>
          </a:solidFill>
          <a:ln w="635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017520" y="4754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017520" y="5120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Services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0" y="4736592"/>
            <a:ext cx="1828800" cy="749808"/>
          </a:xfrm>
          <a:prstGeom prst="rect">
            <a:avLst/>
          </a:prstGeom>
          <a:solidFill>
            <a:srgbClr val="122C48"/>
          </a:solidFill>
          <a:ln w="635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029200" y="4754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029200" y="5120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040880" y="4736592"/>
            <a:ext cx="1828800" cy="749808"/>
          </a:xfrm>
          <a:prstGeom prst="rect">
            <a:avLst/>
          </a:prstGeom>
          <a:solidFill>
            <a:srgbClr val="122C48"/>
          </a:solidFill>
          <a:ln w="635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040880" y="4754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20K+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040880" y="5120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Rows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052560" y="4736592"/>
            <a:ext cx="1828800" cy="749808"/>
          </a:xfrm>
          <a:prstGeom prst="rect">
            <a:avLst/>
          </a:prstGeom>
          <a:solidFill>
            <a:srgbClr val="122C48"/>
          </a:solidFill>
          <a:ln w="635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052560" y="4754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9052560" y="5120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28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8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77240" y="2816352"/>
            <a:ext cx="10607040" cy="54864"/>
          </a:xfrm>
          <a:prstGeom prst="rect">
            <a:avLst/>
          </a:prstGeom>
          <a:solidFill>
            <a:srgbClr val="C5D8F0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61872"/>
            <a:ext cx="1298448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261872"/>
            <a:ext cx="1298448" cy="45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633472"/>
            <a:ext cx="512064" cy="51206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24712" y="2487168"/>
            <a:ext cx="36576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35331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1883664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22860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autonomous AI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needed in space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901952" y="3218688"/>
            <a:ext cx="1298448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901952" y="3218688"/>
            <a:ext cx="1298448" cy="457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95144" y="2633472"/>
            <a:ext cx="512064" cy="512064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95144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23744" y="2670048"/>
            <a:ext cx="36576" cy="2743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144" y="3310128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947672" y="384048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1947672" y="42428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C-MAPSS FD001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rationale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300984" y="1261872"/>
            <a:ext cx="1298448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300984" y="1261872"/>
            <a:ext cx="1298448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694176" y="2633472"/>
            <a:ext cx="512064" cy="51206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94176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922776" y="2487168"/>
            <a:ext cx="36576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1353312"/>
            <a:ext cx="457200" cy="4572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346704" y="1883664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3346704" y="22860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system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data flow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4700016" y="3218688"/>
            <a:ext cx="1298448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700016" y="3218688"/>
            <a:ext cx="1298448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093208" y="2633472"/>
            <a:ext cx="512064" cy="51206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093208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321808" y="2670048"/>
            <a:ext cx="36576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3310128"/>
            <a:ext cx="457200" cy="4572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4745736" y="384048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4745736" y="42428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RUL prediction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6099048" y="1261872"/>
            <a:ext cx="1298448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6099048" y="1261872"/>
            <a:ext cx="1298448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6492240" y="2633472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492240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6720840" y="2487168"/>
            <a:ext cx="36576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1353312"/>
            <a:ext cx="457200" cy="45720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6144768" y="1883664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6144768" y="22860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risk scoring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RL agent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7498080" y="3218688"/>
            <a:ext cx="1298448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7498080" y="3218688"/>
            <a:ext cx="1298448" cy="45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7891272" y="2633472"/>
            <a:ext cx="512064" cy="51206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7891272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8119872" y="2670048"/>
            <a:ext cx="36576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272" y="3310128"/>
            <a:ext cx="457200" cy="45720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7543800" y="384048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56" name="Text 48"/>
          <p:cNvSpPr/>
          <p:nvPr/>
        </p:nvSpPr>
        <p:spPr>
          <a:xfrm>
            <a:off x="7543800" y="42428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API, Kafka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</a:t>
            </a:r>
            <a:endParaRPr lang="en-US" sz="850" dirty="0"/>
          </a:p>
        </p:txBody>
      </p:sp>
      <p:sp>
        <p:nvSpPr>
          <p:cNvPr id="57" name="Shape 49"/>
          <p:cNvSpPr/>
          <p:nvPr/>
        </p:nvSpPr>
        <p:spPr>
          <a:xfrm>
            <a:off x="8897112" y="1261872"/>
            <a:ext cx="1298448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8897112" y="1261872"/>
            <a:ext cx="1298448" cy="45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9290304" y="2633472"/>
            <a:ext cx="512064" cy="51206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9290304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1" name="Shape 53"/>
          <p:cNvSpPr/>
          <p:nvPr/>
        </p:nvSpPr>
        <p:spPr>
          <a:xfrm>
            <a:off x="9518904" y="2487168"/>
            <a:ext cx="36576" cy="274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0304" y="1353312"/>
            <a:ext cx="457200" cy="457200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8942832" y="1883664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050" dirty="0"/>
          </a:p>
        </p:txBody>
      </p:sp>
      <p:sp>
        <p:nvSpPr>
          <p:cNvPr id="64" name="Text 55"/>
          <p:cNvSpPr/>
          <p:nvPr/>
        </p:nvSpPr>
        <p:spPr>
          <a:xfrm>
            <a:off x="8942832" y="22860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→ API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real-time</a:t>
            </a:r>
            <a:endParaRPr lang="en-US" sz="850" dirty="0"/>
          </a:p>
        </p:txBody>
      </p:sp>
      <p:sp>
        <p:nvSpPr>
          <p:cNvPr id="65" name="Shape 56"/>
          <p:cNvSpPr/>
          <p:nvPr/>
        </p:nvSpPr>
        <p:spPr>
          <a:xfrm>
            <a:off x="10296144" y="3218688"/>
            <a:ext cx="1298448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66" name="Shape 57"/>
          <p:cNvSpPr/>
          <p:nvPr/>
        </p:nvSpPr>
        <p:spPr>
          <a:xfrm>
            <a:off x="10296144" y="3218688"/>
            <a:ext cx="1298448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10689336" y="2633472"/>
            <a:ext cx="512064" cy="51206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8" name="Text 59"/>
          <p:cNvSpPr/>
          <p:nvPr/>
        </p:nvSpPr>
        <p:spPr>
          <a:xfrm>
            <a:off x="10689336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9" name="Shape 60"/>
          <p:cNvSpPr/>
          <p:nvPr/>
        </p:nvSpPr>
        <p:spPr>
          <a:xfrm>
            <a:off x="10917936" y="2670048"/>
            <a:ext cx="36576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7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9336" y="3310128"/>
            <a:ext cx="457200" cy="4572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10341864" y="384048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50" dirty="0"/>
          </a:p>
        </p:txBody>
      </p:sp>
      <p:sp>
        <p:nvSpPr>
          <p:cNvPr id="72" name="Text 62"/>
          <p:cNvSpPr/>
          <p:nvPr/>
        </p:nvSpPr>
        <p:spPr>
          <a:xfrm>
            <a:off x="10341864" y="42428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project strengths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28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8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System Exist?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communication delay problem that makes ground control impossible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389888"/>
            <a:ext cx="5760720" cy="3383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55448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1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8000" dirty="0"/>
          </a:p>
        </p:txBody>
      </p:sp>
      <p:sp>
        <p:nvSpPr>
          <p:cNvPr id="11" name="Text 9"/>
          <p:cNvSpPr/>
          <p:nvPr/>
        </p:nvSpPr>
        <p:spPr>
          <a:xfrm>
            <a:off x="3200400" y="29260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80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34747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E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signal delay to Mars — too late to respond to any emergency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38988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DELAY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10512"/>
            <a:ext cx="260604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810512"/>
            <a:ext cx="54864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9476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65960" y="192024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 sec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587752"/>
            <a:ext cx="2606040" cy="658368"/>
          </a:xfrm>
          <a:prstGeom prst="rect">
            <a:avLst/>
          </a:prstGeom>
          <a:solidFill>
            <a:srgbClr val="E2EDFA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587752"/>
            <a:ext cx="54864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24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65960" y="269748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sec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364992"/>
            <a:ext cx="260604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64992"/>
            <a:ext cx="54864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5021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Aditya-L1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65960" y="347472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142232"/>
            <a:ext cx="2606040" cy="658368"/>
          </a:xfrm>
          <a:prstGeom prst="rect">
            <a:avLst/>
          </a:prstGeom>
          <a:solidFill>
            <a:srgbClr val="E2EDFA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142232"/>
            <a:ext cx="54864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279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965960" y="42519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3–22 min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89720" y="138988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89720" y="1810512"/>
            <a:ext cx="265176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89720" y="1810512"/>
            <a:ext cx="54864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16" y="1956816"/>
            <a:ext cx="347472" cy="34747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9692640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Control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9692640" y="212140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fault response from Earth arrives 44 minutes too late.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9189720" y="2587752"/>
            <a:ext cx="2651760" cy="658368"/>
          </a:xfrm>
          <a:prstGeom prst="rect">
            <a:avLst/>
          </a:prstGeom>
          <a:solidFill>
            <a:srgbClr val="E2EDFA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189720" y="2587752"/>
            <a:ext cx="54864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2734056"/>
            <a:ext cx="347472" cy="34747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692640" y="264261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Mission-Ending Risk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9692640" y="289864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faults escalate faster than any ground command.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9189720" y="3364992"/>
            <a:ext cx="265176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9189720" y="3364992"/>
            <a:ext cx="54864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3511296"/>
            <a:ext cx="347472" cy="34747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9692640" y="341985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9692640" y="367588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that decides on-board — zero Earth contact.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457200" y="4983480"/>
            <a:ext cx="11247120" cy="566928"/>
          </a:xfrm>
          <a:prstGeom prst="rect">
            <a:avLst/>
          </a:prstGeom>
          <a:solidFill>
            <a:srgbClr val="EBF3FD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94360" y="502920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the autonomous AI that fills those 44 minutes — detecting faults, predicting failure, and acting independently.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28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8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C-MAPSS FD001 Dataset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 was selected and what it contains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89888"/>
            <a:ext cx="11247120" cy="15727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44475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0584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4871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18288" cy="1243584"/>
          </a:xfrm>
          <a:prstGeom prst="rect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44475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79476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24871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cycle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18288" cy="1243584"/>
          </a:xfrm>
          <a:prstGeom prst="rect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44475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20,631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58368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24871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06840" y="1554480"/>
            <a:ext cx="18288" cy="1243584"/>
          </a:xfrm>
          <a:prstGeom prst="rect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144475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128–362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37260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72600" y="24871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engine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14553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547872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3877056"/>
            <a:ext cx="512064" cy="512064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95344"/>
            <a:ext cx="457200" cy="4572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34440" y="3639312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spacecraft telemetry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234440" y="3986784"/>
            <a:ext cx="4681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gradual multi-sensor degradation as reaction wheels, power converters, thermal systems.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217920" y="3547872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327648" y="3877056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895344"/>
            <a:ext cx="457200" cy="4572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995160" y="3639312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Run-to-failure with ground truth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995160" y="3986784"/>
            <a:ext cx="4681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RUL known at every cycle — enables precise model training and verifiable evaluation.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57200" y="4919472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566928" y="5248656"/>
            <a:ext cx="512064" cy="51206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266944"/>
            <a:ext cx="457200" cy="4572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234440" y="5010912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inter-related sensors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1234440" y="5358384"/>
            <a:ext cx="4681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complexity matches real spacecraft sensor environments and interactions.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217920" y="4919472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6327648" y="5248656"/>
            <a:ext cx="512064" cy="51206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5266944"/>
            <a:ext cx="457200" cy="45720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995160" y="5010912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high-fidelity simulation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6995160" y="5358384"/>
            <a:ext cx="4681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origin and standard benchmark — results compare directly against published work.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28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8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System Architecture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enters at Layer 1 and is progressively enriched toward autonomous decisions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13898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810512"/>
            <a:ext cx="53949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5392" y="1920240"/>
            <a:ext cx="219456" cy="21945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76288" y="18653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row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006840" y="18653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values: unit, cycle, 3 settings, 21 sensors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2313432"/>
            <a:ext cx="5394960" cy="4389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5392" y="2423160"/>
            <a:ext cx="219456" cy="21945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288" y="23682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calculated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06840" y="236829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max_cycle − current_cycle per engine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92240" y="2816352"/>
            <a:ext cx="53949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2926080"/>
            <a:ext cx="219456" cy="21945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28712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06840" y="287121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 + cycle diff for 6 key sensors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3319272"/>
            <a:ext cx="5394960" cy="4389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3429000"/>
            <a:ext cx="219456" cy="21945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33741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06840" y="337413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mean, unit variance — equal feature weight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2240" y="3822192"/>
            <a:ext cx="53949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65392" y="3931920"/>
            <a:ext cx="219456" cy="21945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38770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06840" y="387705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Autoencoder → flag + score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92240" y="4325112"/>
            <a:ext cx="5394960" cy="4389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65392" y="4434840"/>
            <a:ext cx="219456" cy="21945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43799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prediction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06840" y="43799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(snapshot) + LSTM (30-cycle window)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92240" y="4828032"/>
            <a:ext cx="53949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65392" y="4937760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6288" y="48828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06840" y="488289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CAUTION / WARNING / CRITICAL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92240" y="5330952"/>
            <a:ext cx="5394960" cy="4389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65392" y="5440680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76288" y="53858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confidence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06840" y="538581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0.60×RUL + 0.40×Anomaly → score + HIGH/MED/LOW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92240" y="5833872"/>
            <a:ext cx="53949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65392" y="5943600"/>
            <a:ext cx="219456" cy="21945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76288" y="58887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006840" y="588873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Kafka + Dashboard + Prometheus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1389888"/>
            <a:ext cx="576072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1389888"/>
            <a:ext cx="5760720" cy="5486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1645920"/>
            <a:ext cx="475488" cy="475488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627632"/>
            <a:ext cx="493776" cy="493776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755648" y="1481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1755648" y="1828800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RUL → Features → Scale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82696" y="2423160"/>
            <a:ext cx="109728" cy="21945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0080" y="2651760"/>
            <a:ext cx="539496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40080" y="2651760"/>
            <a:ext cx="53949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31520" y="2907792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31520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5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2889504"/>
            <a:ext cx="493776" cy="493776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1938528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200" dirty="0"/>
          </a:p>
        </p:txBody>
      </p:sp>
      <p:sp>
        <p:nvSpPr>
          <p:cNvPr id="60" name="Text 56"/>
          <p:cNvSpPr/>
          <p:nvPr/>
        </p:nvSpPr>
        <p:spPr>
          <a:xfrm>
            <a:off x="1938528" y="30906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 +  Autoencoder  +  Random Forest  +  LSTM</a:t>
            </a:r>
            <a:endParaRPr lang="en-US" sz="950" dirty="0"/>
          </a:p>
        </p:txBody>
      </p:sp>
      <p:sp>
        <p:nvSpPr>
          <p:cNvPr id="61" name="Shape 57"/>
          <p:cNvSpPr/>
          <p:nvPr/>
        </p:nvSpPr>
        <p:spPr>
          <a:xfrm>
            <a:off x="3282696" y="3685032"/>
            <a:ext cx="109728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822960" y="3913632"/>
            <a:ext cx="502920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63" name="Shape 59"/>
          <p:cNvSpPr/>
          <p:nvPr/>
        </p:nvSpPr>
        <p:spPr>
          <a:xfrm>
            <a:off x="822960" y="3913632"/>
            <a:ext cx="50292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914400" y="4169664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914400" y="4169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6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151376"/>
            <a:ext cx="493776" cy="493776"/>
          </a:xfrm>
          <a:prstGeom prst="rect">
            <a:avLst/>
          </a:prstGeom>
        </p:spPr>
      </p:pic>
      <p:sp>
        <p:nvSpPr>
          <p:cNvPr id="67" name="Text 62"/>
          <p:cNvSpPr/>
          <p:nvPr/>
        </p:nvSpPr>
        <p:spPr>
          <a:xfrm>
            <a:off x="2121408" y="4005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200" dirty="0"/>
          </a:p>
        </p:txBody>
      </p:sp>
      <p:sp>
        <p:nvSpPr>
          <p:cNvPr id="68" name="Text 63"/>
          <p:cNvSpPr/>
          <p:nvPr/>
        </p:nvSpPr>
        <p:spPr>
          <a:xfrm>
            <a:off x="2121408" y="435254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→ Risk → Confidence → Justification → RL Agent</a:t>
            </a:r>
            <a:endParaRPr lang="en-US" sz="950" dirty="0"/>
          </a:p>
        </p:txBody>
      </p:sp>
      <p:sp>
        <p:nvSpPr>
          <p:cNvPr id="69" name="Shape 64"/>
          <p:cNvSpPr/>
          <p:nvPr/>
        </p:nvSpPr>
        <p:spPr>
          <a:xfrm>
            <a:off x="3282696" y="4946904"/>
            <a:ext cx="109728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1005840" y="5175504"/>
            <a:ext cx="466344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71" name="Shape 66"/>
          <p:cNvSpPr/>
          <p:nvPr/>
        </p:nvSpPr>
        <p:spPr>
          <a:xfrm>
            <a:off x="1005840" y="5175504"/>
            <a:ext cx="466344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1097280" y="5431536"/>
            <a:ext cx="475488" cy="47548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1097280" y="5431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7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2496" y="5413248"/>
            <a:ext cx="493776" cy="493776"/>
          </a:xfrm>
          <a:prstGeom prst="rect">
            <a:avLst/>
          </a:prstGeom>
        </p:spPr>
      </p:pic>
      <p:sp>
        <p:nvSpPr>
          <p:cNvPr id="75" name="Text 69"/>
          <p:cNvSpPr/>
          <p:nvPr/>
        </p:nvSpPr>
        <p:spPr>
          <a:xfrm>
            <a:off x="2304288" y="5266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LAYER</a:t>
            </a:r>
            <a:endParaRPr lang="en-US" sz="1200" dirty="0"/>
          </a:p>
        </p:txBody>
      </p:sp>
      <p:sp>
        <p:nvSpPr>
          <p:cNvPr id="76" name="Text 70"/>
          <p:cNvSpPr/>
          <p:nvPr/>
        </p:nvSpPr>
        <p:spPr>
          <a:xfrm>
            <a:off x="2304288" y="561441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Kafka + Streamlit + Prometheus + Grafana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28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8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anomaly detectors and two RUL predictors — different approaches, cross-checking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389888"/>
            <a:ext cx="914400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389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16276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49040" y="1865376"/>
            <a:ext cx="45720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389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NN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0" y="16276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35040" y="1865376"/>
            <a:ext cx="4572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389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0" y="16276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Prediction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321040" y="1865376"/>
            <a:ext cx="457200" cy="5486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0" y="1389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784080" y="16276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Prediction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607040" y="1865376"/>
            <a:ext cx="4572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956816"/>
            <a:ext cx="22402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956816"/>
            <a:ext cx="45720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0939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0" y="195681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1956816"/>
            <a:ext cx="2212848" cy="274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6352" y="204825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195681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956816"/>
            <a:ext cx="2212848" cy="27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204825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Autoencoder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0" y="195681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1956816"/>
            <a:ext cx="2212848" cy="274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88352" y="204825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Ensemble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601200" y="195681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0" y="1956816"/>
            <a:ext cx="2212848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74352" y="204825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Dropout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596896"/>
            <a:ext cx="2240280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2596896"/>
            <a:ext cx="45720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273405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0" y="2596896"/>
            <a:ext cx="2212848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16352" y="268833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0" y="2596896"/>
            <a:ext cx="2212848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2352" y="268833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15200" y="2596896"/>
            <a:ext cx="2212848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88352" y="268833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2596896"/>
            <a:ext cx="2212848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74352" y="268833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3236976"/>
            <a:ext cx="22402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236976"/>
            <a:ext cx="45720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337413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743200" y="323697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16352" y="332841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snapshot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29200" y="323697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02352" y="332841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snapshot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15200" y="323697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88352" y="332841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snapshot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601200" y="323697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74352" y="332841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30-cycle sequence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3877056"/>
            <a:ext cx="2240280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3877056"/>
            <a:ext cx="45720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" y="401421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743200" y="3877056"/>
            <a:ext cx="2212848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16352" y="396849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engine data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029200" y="3877056"/>
            <a:ext cx="2212848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02352" y="396849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only RUL&gt;50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315200" y="3877056"/>
            <a:ext cx="2212848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88352" y="396849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split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601200" y="3877056"/>
            <a:ext cx="2212848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674352" y="396849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sequences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4517136"/>
            <a:ext cx="22402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7200" y="4517136"/>
            <a:ext cx="45720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" y="465429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2743200" y="451713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16352" y="460857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estimators, 5% contam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029200" y="451713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02352" y="460857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32→16→8→16→32 bottleneck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315200" y="451713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88352" y="460857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n_jobs=-1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9601200" y="451713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74352" y="460857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LSTM(64), 30 epochs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57200" y="5157216"/>
            <a:ext cx="2240280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7200" y="5157216"/>
            <a:ext cx="45720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6928" y="52943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2743200" y="5157216"/>
            <a:ext cx="2212848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816352" y="524865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anomaly_flag + score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029200" y="5157216"/>
            <a:ext cx="2212848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02352" y="524865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reconstruction_error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7315200" y="5157216"/>
            <a:ext cx="2212848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88352" y="524865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predicted_RUL (cycles)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9601200" y="5157216"/>
            <a:ext cx="2212848" cy="58521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674352" y="524865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predicted_RUL (cycles)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57200" y="5797296"/>
            <a:ext cx="22402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57200" y="5797296"/>
            <a:ext cx="45720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66928" y="593445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2743200" y="579729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16352" y="588873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no labels needed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5029200" y="579729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102352" y="588873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multi-sensor patterns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7315200" y="579729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388352" y="588873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baseline, fast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9601200" y="5797296"/>
            <a:ext cx="221284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674352" y="588873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degradation trend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28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8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from rule-based logic to self-improving reinforcement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124712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7160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·  anomaly_flag  +  anomaly_score  +  predicted_RUL  →  Feed into all three decision layers simultaneously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73152" cy="32186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9339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—  RULE ENGINE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395728"/>
            <a:ext cx="4389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395728"/>
            <a:ext cx="36576" cy="42062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45059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Anomaly  +  RUL ≤ 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24912" y="245059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CRITICAL: Immediate maintenance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2871216"/>
            <a:ext cx="4389120" cy="420624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71216"/>
            <a:ext cx="36576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292608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Anomaly  +  RUL ≤ 15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24912" y="292608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 RISK: Urgent inspection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3346704"/>
            <a:ext cx="4389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346704"/>
            <a:ext cx="36576" cy="42062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40156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Strong anomaly signal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34015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WARNING: Strong anomaly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3822192"/>
            <a:ext cx="4389120" cy="420624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822192"/>
            <a:ext cx="36576" cy="42062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387705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Mild anomaly detected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24912" y="387705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WARNING: Monitor closely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4297680"/>
            <a:ext cx="4389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297680"/>
            <a:ext cx="36576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435254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No anomaly  +  RUL ≤ 10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24912" y="435254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CAUTION: Nearing failure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4773168"/>
            <a:ext cx="4389120" cy="420624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773168"/>
            <a:ext cx="36576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482803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All clear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24912" y="482803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NORMAL: Operating nominally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39512" y="1993392"/>
            <a:ext cx="22860" cy="3273552"/>
          </a:xfrm>
          <a:prstGeom prst="rect">
            <a:avLst/>
          </a:prstGeom>
          <a:solidFill>
            <a:srgbClr val="C5D8F0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76672" y="1993392"/>
            <a:ext cx="73152" cy="32186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199339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—  RISK + CONFIDENCE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59552" y="2395728"/>
            <a:ext cx="32004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59552" y="2395728"/>
            <a:ext cx="32004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50992" y="2505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Formula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50992" y="27980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=  0.60 × RUL_risk  +  0.40 × Anomaly_strength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50992" y="30723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0.0 (safe)  →  1.0 (imminent failure)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59552" y="3675888"/>
            <a:ext cx="3200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59552" y="3675888"/>
            <a:ext cx="32004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50992" y="3785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50992" y="4133088"/>
            <a:ext cx="475488" cy="1280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50992" y="4133088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199632" y="4133088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signals agree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650992" y="4279392"/>
            <a:ext cx="475488" cy="12801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4279392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199632" y="42793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signal is clear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50992" y="4425696"/>
            <a:ext cx="475488" cy="12801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50992" y="4425696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199632" y="4425696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contradict each other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59552" y="4773168"/>
            <a:ext cx="3200400" cy="822960"/>
          </a:xfrm>
          <a:prstGeom prst="rect">
            <a:avLst/>
          </a:prstGeom>
          <a:solidFill>
            <a:srgbClr val="E2EDFA"/>
          </a:solidFill>
          <a:ln w="6350">
            <a:solidFill>
              <a:srgbClr val="C5D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50992" y="4846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Justification: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650992" y="51023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"anomaly detected (score=-0.18); RUL critically low (4 cycles)."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933688" y="1993392"/>
            <a:ext cx="22860" cy="3273552"/>
          </a:xfrm>
          <a:prstGeom prst="rect">
            <a:avLst/>
          </a:prstGeom>
          <a:solidFill>
            <a:srgbClr val="C5D8F0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70848" y="1993392"/>
            <a:ext cx="73152" cy="32186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53728" y="1993392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—  RL AGENT</a:t>
            </a:r>
            <a:endParaRPr lang="en-US" sz="1100" dirty="0"/>
          </a:p>
        </p:txBody>
      </p:sp>
      <p:pic>
        <p:nvPicPr>
          <p:cNvPr id="6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28" y="2450592"/>
            <a:ext cx="658368" cy="658368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9985248" y="24871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Agent</a:t>
            </a:r>
            <a:endParaRPr lang="en-US" sz="1400" dirty="0"/>
          </a:p>
        </p:txBody>
      </p:sp>
      <p:sp>
        <p:nvSpPr>
          <p:cNvPr id="65" name="Text 62"/>
          <p:cNvSpPr/>
          <p:nvPr/>
        </p:nvSpPr>
        <p:spPr>
          <a:xfrm>
            <a:off x="9985248" y="27980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through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experience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9253728" y="3310128"/>
            <a:ext cx="2852928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253728" y="3310128"/>
            <a:ext cx="36576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363456" y="3364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10405872" y="33467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1092708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× RUL band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9253728" y="3785616"/>
            <a:ext cx="2852928" cy="40233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9253728" y="3785616"/>
            <a:ext cx="36576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9363456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50" dirty="0"/>
          </a:p>
        </p:txBody>
      </p:sp>
      <p:sp>
        <p:nvSpPr>
          <p:cNvPr id="74" name="Text 71"/>
          <p:cNvSpPr/>
          <p:nvPr/>
        </p:nvSpPr>
        <p:spPr>
          <a:xfrm>
            <a:off x="10405872" y="38221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5" name="Text 72"/>
          <p:cNvSpPr/>
          <p:nvPr/>
        </p:nvSpPr>
        <p:spPr>
          <a:xfrm>
            <a:off x="1092708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 → shutdown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9253728" y="4261104"/>
            <a:ext cx="2852928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9253728" y="4261104"/>
            <a:ext cx="36576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9363456" y="4315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reward</a:t>
            </a:r>
            <a:endParaRPr lang="en-US" sz="950" dirty="0"/>
          </a:p>
        </p:txBody>
      </p:sp>
      <p:sp>
        <p:nvSpPr>
          <p:cNvPr id="79" name="Text 76"/>
          <p:cNvSpPr/>
          <p:nvPr/>
        </p:nvSpPr>
        <p:spPr>
          <a:xfrm>
            <a:off x="10405872" y="42976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400" dirty="0"/>
          </a:p>
        </p:txBody>
      </p:sp>
      <p:sp>
        <p:nvSpPr>
          <p:cNvPr id="80" name="Text 77"/>
          <p:cNvSpPr/>
          <p:nvPr/>
        </p:nvSpPr>
        <p:spPr>
          <a:xfrm>
            <a:off x="10927080" y="4315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emergency shutdown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9253728" y="4736592"/>
            <a:ext cx="2852928" cy="40233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9253728" y="4736592"/>
            <a:ext cx="36576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363456" y="47914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penalty</a:t>
            </a:r>
            <a:endParaRPr lang="en-US" sz="950" dirty="0"/>
          </a:p>
        </p:txBody>
      </p:sp>
      <p:sp>
        <p:nvSpPr>
          <p:cNvPr id="84" name="Text 81"/>
          <p:cNvSpPr/>
          <p:nvPr/>
        </p:nvSpPr>
        <p:spPr>
          <a:xfrm>
            <a:off x="10405872" y="47731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</a:t>
            </a:r>
            <a:endParaRPr lang="en-US" sz="1400" dirty="0"/>
          </a:p>
        </p:txBody>
      </p:sp>
      <p:sp>
        <p:nvSpPr>
          <p:cNvPr id="85" name="Text 82"/>
          <p:cNvSpPr/>
          <p:nvPr/>
        </p:nvSpPr>
        <p:spPr>
          <a:xfrm>
            <a:off x="10927080" y="47914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at critical RUL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28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8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Stack — 1 Command, 8 Services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 →  everything starts automatically in the correct order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Order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6968" y="1792224"/>
            <a:ext cx="36576" cy="4370832"/>
          </a:xfrm>
          <a:prstGeom prst="rect">
            <a:avLst/>
          </a:prstGeom>
          <a:solidFill>
            <a:srgbClr val="C5D8F0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1993392"/>
            <a:ext cx="438912" cy="438912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61872" y="1883664"/>
            <a:ext cx="40690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261872" y="1883664"/>
            <a:ext cx="36576" cy="6583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5681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847088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847088" y="219456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all ML models, writes outputs/ and models/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76656" y="2889504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261872" y="2779776"/>
            <a:ext cx="40690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261872" y="2779776"/>
            <a:ext cx="36576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852928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847088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847088" y="309067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models, starts inference server on port 8000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76656" y="3785616"/>
            <a:ext cx="438912" cy="43891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6656" y="3785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1261872" y="3675888"/>
            <a:ext cx="40690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1261872" y="3675888"/>
            <a:ext cx="36576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749040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847088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1847088" y="398678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pipeline, then starts dashboard on port 8501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76656" y="4681728"/>
            <a:ext cx="438912" cy="43891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76656" y="4681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1261872" y="4572000"/>
            <a:ext cx="40690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1261872" y="4572000"/>
            <a:ext cx="36576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645152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847088" y="46085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Stack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1847088" y="4882896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+ Kafka broker + consumer start streaming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76656" y="5577840"/>
            <a:ext cx="438912" cy="43891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76656" y="5577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1261872" y="5468112"/>
            <a:ext cx="40690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1261872" y="5468112"/>
            <a:ext cx="36576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5541264"/>
            <a:ext cx="384048" cy="38404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847088" y="5504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1847088" y="577900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scrapes API metrics, Grafana provisions dashboards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5650992" y="1371600"/>
            <a:ext cx="22860" cy="5010912"/>
          </a:xfrm>
          <a:prstGeom prst="rect">
            <a:avLst/>
          </a:prstGeom>
          <a:solidFill>
            <a:srgbClr val="C5D8F0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925312" y="137160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Reference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5925312" y="1792224"/>
            <a:ext cx="59893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016752" y="17922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50" name="Text 43"/>
          <p:cNvSpPr/>
          <p:nvPr/>
        </p:nvSpPr>
        <p:spPr>
          <a:xfrm>
            <a:off x="7699248" y="179222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50" dirty="0"/>
          </a:p>
        </p:txBody>
      </p:sp>
      <p:sp>
        <p:nvSpPr>
          <p:cNvPr id="51" name="Text 44"/>
          <p:cNvSpPr/>
          <p:nvPr/>
        </p:nvSpPr>
        <p:spPr>
          <a:xfrm>
            <a:off x="8558784" y="179222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/ Credential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5925312" y="2157984"/>
            <a:ext cx="59893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5925312" y="2157984"/>
            <a:ext cx="36576" cy="4937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6035040" y="224942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7699248" y="2286000"/>
            <a:ext cx="658368" cy="23774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7699248" y="22860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8501</a:t>
            </a:r>
            <a:endParaRPr lang="en-US" sz="900" dirty="0"/>
          </a:p>
        </p:txBody>
      </p:sp>
      <p:sp>
        <p:nvSpPr>
          <p:cNvPr id="57" name="Text 50"/>
          <p:cNvSpPr/>
          <p:nvPr/>
        </p:nvSpPr>
        <p:spPr>
          <a:xfrm>
            <a:off x="8558784" y="224942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http://localhost:8501</a:t>
            </a:r>
            <a:endParaRPr lang="en-US" sz="950" dirty="0"/>
          </a:p>
        </p:txBody>
      </p:sp>
      <p:sp>
        <p:nvSpPr>
          <p:cNvPr id="58" name="Shape 51"/>
          <p:cNvSpPr/>
          <p:nvPr/>
        </p:nvSpPr>
        <p:spPr>
          <a:xfrm>
            <a:off x="5925312" y="2706624"/>
            <a:ext cx="5989320" cy="49377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5925312" y="2706624"/>
            <a:ext cx="36576" cy="4937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6035040" y="279806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Docs</a:t>
            </a:r>
            <a:endParaRPr lang="en-US" sz="1050" dirty="0"/>
          </a:p>
        </p:txBody>
      </p:sp>
      <p:sp>
        <p:nvSpPr>
          <p:cNvPr id="61" name="Shape 54"/>
          <p:cNvSpPr/>
          <p:nvPr/>
        </p:nvSpPr>
        <p:spPr>
          <a:xfrm>
            <a:off x="7699248" y="2834640"/>
            <a:ext cx="658368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7699248" y="28346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900" dirty="0"/>
          </a:p>
        </p:txBody>
      </p:sp>
      <p:sp>
        <p:nvSpPr>
          <p:cNvPr id="63" name="Text 56"/>
          <p:cNvSpPr/>
          <p:nvPr/>
        </p:nvSpPr>
        <p:spPr>
          <a:xfrm>
            <a:off x="8558784" y="279806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http://localhost:8000/docs</a:t>
            </a:r>
            <a:endParaRPr lang="en-US" sz="950" dirty="0"/>
          </a:p>
        </p:txBody>
      </p:sp>
      <p:sp>
        <p:nvSpPr>
          <p:cNvPr id="64" name="Shape 57"/>
          <p:cNvSpPr/>
          <p:nvPr/>
        </p:nvSpPr>
        <p:spPr>
          <a:xfrm>
            <a:off x="5925312" y="3255264"/>
            <a:ext cx="59893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5925312" y="3255264"/>
            <a:ext cx="36576" cy="4937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6035040" y="334670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Predict</a:t>
            </a:r>
            <a:endParaRPr lang="en-US" sz="1050" dirty="0"/>
          </a:p>
        </p:txBody>
      </p:sp>
      <p:sp>
        <p:nvSpPr>
          <p:cNvPr id="67" name="Shape 60"/>
          <p:cNvSpPr/>
          <p:nvPr/>
        </p:nvSpPr>
        <p:spPr>
          <a:xfrm>
            <a:off x="7699248" y="3383280"/>
            <a:ext cx="658368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7699248" y="33832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900" dirty="0"/>
          </a:p>
        </p:txBody>
      </p:sp>
      <p:sp>
        <p:nvSpPr>
          <p:cNvPr id="69" name="Text 62"/>
          <p:cNvSpPr/>
          <p:nvPr/>
        </p:nvSpPr>
        <p:spPr>
          <a:xfrm>
            <a:off x="8558784" y="334670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http://localhost:8000/predict</a:t>
            </a:r>
            <a:endParaRPr lang="en-US" sz="950" dirty="0"/>
          </a:p>
        </p:txBody>
      </p:sp>
      <p:sp>
        <p:nvSpPr>
          <p:cNvPr id="70" name="Shape 63"/>
          <p:cNvSpPr/>
          <p:nvPr/>
        </p:nvSpPr>
        <p:spPr>
          <a:xfrm>
            <a:off x="5925312" y="3803904"/>
            <a:ext cx="5989320" cy="49377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5925312" y="3803904"/>
            <a:ext cx="36576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2" name="Text 65"/>
          <p:cNvSpPr/>
          <p:nvPr/>
        </p:nvSpPr>
        <p:spPr>
          <a:xfrm>
            <a:off x="6035040" y="389534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73" name="Shape 66"/>
          <p:cNvSpPr/>
          <p:nvPr/>
        </p:nvSpPr>
        <p:spPr>
          <a:xfrm>
            <a:off x="7699248" y="3931920"/>
            <a:ext cx="658368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7699248" y="3931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900" dirty="0"/>
          </a:p>
        </p:txBody>
      </p:sp>
      <p:sp>
        <p:nvSpPr>
          <p:cNvPr id="75" name="Text 68"/>
          <p:cNvSpPr/>
          <p:nvPr/>
        </p:nvSpPr>
        <p:spPr>
          <a:xfrm>
            <a:off x="8558784" y="389534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  (admin/admin)</a:t>
            </a:r>
            <a:endParaRPr lang="en-US" sz="950" dirty="0"/>
          </a:p>
        </p:txBody>
      </p:sp>
      <p:sp>
        <p:nvSpPr>
          <p:cNvPr id="76" name="Shape 69"/>
          <p:cNvSpPr/>
          <p:nvPr/>
        </p:nvSpPr>
        <p:spPr>
          <a:xfrm>
            <a:off x="5925312" y="4352544"/>
            <a:ext cx="59893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5925312" y="4352544"/>
            <a:ext cx="36576" cy="4937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8" name="Text 71"/>
          <p:cNvSpPr/>
          <p:nvPr/>
        </p:nvSpPr>
        <p:spPr>
          <a:xfrm>
            <a:off x="6035040" y="444398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79" name="Shape 72"/>
          <p:cNvSpPr/>
          <p:nvPr/>
        </p:nvSpPr>
        <p:spPr>
          <a:xfrm>
            <a:off x="7699248" y="4480560"/>
            <a:ext cx="658368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0" name="Text 73"/>
          <p:cNvSpPr/>
          <p:nvPr/>
        </p:nvSpPr>
        <p:spPr>
          <a:xfrm>
            <a:off x="7699248" y="4480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9090</a:t>
            </a:r>
            <a:endParaRPr lang="en-US" sz="900" dirty="0"/>
          </a:p>
        </p:txBody>
      </p:sp>
      <p:sp>
        <p:nvSpPr>
          <p:cNvPr id="81" name="Text 74"/>
          <p:cNvSpPr/>
          <p:nvPr/>
        </p:nvSpPr>
        <p:spPr>
          <a:xfrm>
            <a:off x="8558784" y="44439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http://localhost:9090</a:t>
            </a:r>
            <a:endParaRPr lang="en-US" sz="950" dirty="0"/>
          </a:p>
        </p:txBody>
      </p:sp>
      <p:sp>
        <p:nvSpPr>
          <p:cNvPr id="82" name="Shape 75"/>
          <p:cNvSpPr/>
          <p:nvPr/>
        </p:nvSpPr>
        <p:spPr>
          <a:xfrm>
            <a:off x="5925312" y="4901184"/>
            <a:ext cx="5989320" cy="49377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5925312" y="4901184"/>
            <a:ext cx="36576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4" name="Text 77"/>
          <p:cNvSpPr/>
          <p:nvPr/>
        </p:nvSpPr>
        <p:spPr>
          <a:xfrm>
            <a:off x="6035040" y="499262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Broker</a:t>
            </a:r>
            <a:endParaRPr lang="en-US" sz="1050" dirty="0"/>
          </a:p>
        </p:txBody>
      </p:sp>
      <p:sp>
        <p:nvSpPr>
          <p:cNvPr id="85" name="Shape 78"/>
          <p:cNvSpPr/>
          <p:nvPr/>
        </p:nvSpPr>
        <p:spPr>
          <a:xfrm>
            <a:off x="7699248" y="5029200"/>
            <a:ext cx="658368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6" name="Text 79"/>
          <p:cNvSpPr/>
          <p:nvPr/>
        </p:nvSpPr>
        <p:spPr>
          <a:xfrm>
            <a:off x="7699248" y="50292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9092</a:t>
            </a:r>
            <a:endParaRPr lang="en-US" sz="900" dirty="0"/>
          </a:p>
        </p:txBody>
      </p:sp>
      <p:sp>
        <p:nvSpPr>
          <p:cNvPr id="87" name="Text 80"/>
          <p:cNvSpPr/>
          <p:nvPr/>
        </p:nvSpPr>
        <p:spPr>
          <a:xfrm>
            <a:off x="8558784" y="499262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localhost:9092</a:t>
            </a:r>
            <a:endParaRPr lang="en-US" sz="950" dirty="0"/>
          </a:p>
        </p:txBody>
      </p:sp>
      <p:sp>
        <p:nvSpPr>
          <p:cNvPr id="88" name="Shape 81"/>
          <p:cNvSpPr/>
          <p:nvPr/>
        </p:nvSpPr>
        <p:spPr>
          <a:xfrm>
            <a:off x="5925312" y="5449824"/>
            <a:ext cx="59893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>
            <a:off x="5925312" y="5449824"/>
            <a:ext cx="36576" cy="49377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0" name="Text 83"/>
          <p:cNvSpPr/>
          <p:nvPr/>
        </p:nvSpPr>
        <p:spPr>
          <a:xfrm>
            <a:off x="6035040" y="554126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1050" dirty="0"/>
          </a:p>
        </p:txBody>
      </p:sp>
      <p:sp>
        <p:nvSpPr>
          <p:cNvPr id="91" name="Shape 84"/>
          <p:cNvSpPr/>
          <p:nvPr/>
        </p:nvSpPr>
        <p:spPr>
          <a:xfrm>
            <a:off x="7699248" y="5577840"/>
            <a:ext cx="658368" cy="23774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2" name="Text 85"/>
          <p:cNvSpPr/>
          <p:nvPr/>
        </p:nvSpPr>
        <p:spPr>
          <a:xfrm>
            <a:off x="7699248" y="55778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2181</a:t>
            </a:r>
            <a:endParaRPr lang="en-US" sz="900" dirty="0"/>
          </a:p>
        </p:txBody>
      </p:sp>
      <p:sp>
        <p:nvSpPr>
          <p:cNvPr id="93" name="Text 86"/>
          <p:cNvSpPr/>
          <p:nvPr/>
        </p:nvSpPr>
        <p:spPr>
          <a:xfrm>
            <a:off x="8558784" y="554126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localhost:2181</a:t>
            </a:r>
            <a:endParaRPr lang="en-US" sz="950" dirty="0"/>
          </a:p>
        </p:txBody>
      </p:sp>
      <p:sp>
        <p:nvSpPr>
          <p:cNvPr id="94" name="Shape 87"/>
          <p:cNvSpPr/>
          <p:nvPr/>
        </p:nvSpPr>
        <p:spPr>
          <a:xfrm>
            <a:off x="5925312" y="5998464"/>
            <a:ext cx="5989320" cy="493776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95" name="Shape 88"/>
          <p:cNvSpPr/>
          <p:nvPr/>
        </p:nvSpPr>
        <p:spPr>
          <a:xfrm>
            <a:off x="5925312" y="5998464"/>
            <a:ext cx="36576" cy="4937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96" name="Text 89"/>
          <p:cNvSpPr/>
          <p:nvPr/>
        </p:nvSpPr>
        <p:spPr>
          <a:xfrm>
            <a:off x="6035040" y="608990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</a:t>
            </a:r>
            <a:endParaRPr lang="en-US" sz="1050" dirty="0"/>
          </a:p>
        </p:txBody>
      </p:sp>
      <p:sp>
        <p:nvSpPr>
          <p:cNvPr id="97" name="Shape 90"/>
          <p:cNvSpPr/>
          <p:nvPr/>
        </p:nvSpPr>
        <p:spPr>
          <a:xfrm>
            <a:off x="7699248" y="6126480"/>
            <a:ext cx="658368" cy="23774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98" name="Text 91"/>
          <p:cNvSpPr/>
          <p:nvPr/>
        </p:nvSpPr>
        <p:spPr>
          <a:xfrm>
            <a:off x="7699248" y="61264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9" name="Text 92"/>
          <p:cNvSpPr/>
          <p:nvPr/>
        </p:nvSpPr>
        <p:spPr>
          <a:xfrm>
            <a:off x="8558784" y="608990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streams CSV → API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28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8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Mission Control Dashboard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pages — five static analysis pages + one real-time live stream page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1247120" cy="420624"/>
          </a:xfrm>
          <a:prstGeom prst="rect">
            <a:avLst/>
          </a:prstGeom>
          <a:solidFill>
            <a:srgbClr val="EBF3FD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7160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http://localhost:8501  ·  Pages 1–5 read from telemetry_results.csv  ·  Page 6 polls GET /live every 3 seconds — reflects Kafka streaming live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7490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20240"/>
            <a:ext cx="3749040" cy="5486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75104"/>
            <a:ext cx="3749040" cy="512064"/>
          </a:xfrm>
          <a:prstGeom prst="rect">
            <a:avLst/>
          </a:prstGeom>
          <a:solidFill>
            <a:srgbClr val="F7F9FC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029968"/>
            <a:ext cx="402336" cy="40233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04825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Anomaly 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28600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health at a glance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" y="2615184"/>
            <a:ext cx="109728" cy="109728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587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KPI cards: total records, anomalies, critical cases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" y="3035808"/>
            <a:ext cx="109728" cy="109728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0083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gauges: alert level, health %, failure risk, risk score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" y="3456432"/>
            <a:ext cx="109728" cy="109728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429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status badge: NOMINAL / WARNING / CRITICAL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" y="3877056"/>
            <a:ext cx="109728" cy="109728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8496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timeline with color-coded normal vs anomaly points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" y="4297680"/>
            <a:ext cx="109728" cy="109728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270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 distribution chart and telemetry data table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70832" y="1920240"/>
            <a:ext cx="37490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70832" y="1920240"/>
            <a:ext cx="37490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1975104"/>
            <a:ext cx="3749040" cy="512064"/>
          </a:xfrm>
          <a:prstGeom prst="rect">
            <a:avLst/>
          </a:prstGeom>
          <a:solidFill>
            <a:srgbClr val="F7F9FC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62272" y="2029968"/>
            <a:ext cx="402336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65192" y="204825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Prediction &amp; Model Compare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65192" y="228600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deep learning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35424" y="2615184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2587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RUL line chart for selected engine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35424" y="3035808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0083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prediction error area chart over time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35424" y="3456432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3429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vs LSTM metrics side-by-side: MAE, RMSE, R²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35424" y="3877056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38496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of all predictions across all 100 engines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84464" y="1920240"/>
            <a:ext cx="37490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84464" y="1920240"/>
            <a:ext cx="374904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84464" y="1975104"/>
            <a:ext cx="3749040" cy="512064"/>
          </a:xfrm>
          <a:prstGeom prst="rect">
            <a:avLst/>
          </a:prstGeom>
          <a:solidFill>
            <a:srgbClr val="F7F9FC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75904" y="2029968"/>
            <a:ext cx="402336" cy="40233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75904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878824" y="204825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&amp; Decision Confidence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878824" y="228600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risk with explanation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449056" y="2615184"/>
            <a:ext cx="109728" cy="1097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31936" y="2587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gauge dial showing current risk (0–100%)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449056" y="3035808"/>
            <a:ext cx="109728" cy="1097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31936" y="30083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 indicator: HIGH / MEDIUM / LOW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449056" y="3456432"/>
            <a:ext cx="109728" cy="1097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31936" y="3429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justification card — plain-English reasoning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449056" y="3877056"/>
            <a:ext cx="109728" cy="1097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31936" y="38496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timeline with 0.4 warning and 0.7 critical lines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4892040"/>
            <a:ext cx="3749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57200" y="4892040"/>
            <a:ext cx="37490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4946904"/>
            <a:ext cx="374904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5001768"/>
            <a:ext cx="347472" cy="3474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5001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005840" y="502005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Analysis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05840" y="5239512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anomaly insights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21792" y="5559552"/>
            <a:ext cx="91440" cy="914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6384" y="552297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chart over full engine life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21792" y="6071616"/>
            <a:ext cx="91440" cy="914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6384" y="603504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vs Autoencoder comparison pie charts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468880" y="5559552"/>
            <a:ext cx="91440" cy="914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33472" y="552297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agreement bar chart: both detect, IF only, AE only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468880" y="6071616"/>
            <a:ext cx="91440" cy="914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33472" y="603504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evaluation classification report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370832" y="4892040"/>
            <a:ext cx="3749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370832" y="4892040"/>
            <a:ext cx="374904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370832" y="4946904"/>
            <a:ext cx="374904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462272" y="5001768"/>
            <a:ext cx="347472" cy="34747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62272" y="5001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919472" y="502005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Demo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919472" y="5239512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policy learning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35424" y="5559552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0016" y="552297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Q-table trainer with 4 sliders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535424" y="6071616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00016" y="603504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agent on demand: episodes, α, γ, ε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382512" y="5559552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47104" y="552297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policy table: best action per state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382512" y="6071616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47104" y="603504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 heatmap coloured green (good) to red (bad)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284464" y="4892040"/>
            <a:ext cx="3749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284464" y="4892040"/>
            <a:ext cx="37490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84464" y="4946904"/>
            <a:ext cx="374904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375904" y="500176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75904" y="5001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833104" y="502005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Live Stream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8833104" y="5239512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Kafka → API → Dashboard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449056" y="5559552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613648" y="552297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GET /live every 2/3/5/10 seconds (user choice)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8449056" y="6071616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613648" y="603504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bar: latest unit, cycle, RUL, risk, action, latency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10296144" y="5559552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460736" y="552297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cards: total predictions, anomalies, normal, avg RUL, avg risk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10296144" y="6071616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460736" y="603504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scatter chart — green normal / red anomaly dots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28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8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Live Stream — Real-Time Dashboard Integration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Kafka → API prediction reflects on the dashboard within seconds via GET /live polling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89888"/>
            <a:ext cx="2148840" cy="2450592"/>
          </a:xfrm>
          <a:prstGeom prst="rect">
            <a:avLst/>
          </a:prstGeom>
          <a:solidFill>
            <a:srgbClr val="FFFFFF"/>
          </a:solidFill>
          <a:ln w="889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89888"/>
            <a:ext cx="2148840" cy="5486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1872" y="1499616"/>
            <a:ext cx="512064" cy="512064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1499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139696"/>
            <a:ext cx="512064" cy="51206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6928" y="276148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telemetry_results.csv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to topic: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sec between rows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615184" y="2560320"/>
            <a:ext cx="146304" cy="914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79776" y="1389888"/>
            <a:ext cx="2148840" cy="2450592"/>
          </a:xfrm>
          <a:prstGeom prst="rect">
            <a:avLst/>
          </a:prstGeom>
          <a:solidFill>
            <a:srgbClr val="FFFFFF"/>
          </a:solidFill>
          <a:ln w="889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79776" y="1389888"/>
            <a:ext cx="21488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84448" y="1499616"/>
            <a:ext cx="512064" cy="51206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84448" y="1499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2139696"/>
            <a:ext cx="512064" cy="5120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871216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2889504" y="276148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topic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each row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to POST /predict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937760" y="2560320"/>
            <a:ext cx="146304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102352" y="1389888"/>
            <a:ext cx="2148840" cy="2450592"/>
          </a:xfrm>
          <a:prstGeom prst="rect">
            <a:avLst/>
          </a:prstGeom>
          <a:solidFill>
            <a:srgbClr val="FFFFFF"/>
          </a:solidFill>
          <a:ln w="889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102352" y="1389888"/>
            <a:ext cx="21488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07024" y="1499616"/>
            <a:ext cx="512064" cy="51206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907024" y="1499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139696"/>
            <a:ext cx="512064" cy="51206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193792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/predict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5212080" y="276148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AI models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LIVE_PREDICTIONS deque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7260336" y="2560320"/>
            <a:ext cx="146304" cy="91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424928" y="1389888"/>
            <a:ext cx="2148840" cy="2450592"/>
          </a:xfrm>
          <a:prstGeom prst="rect">
            <a:avLst/>
          </a:prstGeom>
          <a:solidFill>
            <a:srgbClr val="FFFFFF"/>
          </a:solidFill>
          <a:ln w="889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424928" y="1389888"/>
            <a:ext cx="214884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229600" y="1499616"/>
            <a:ext cx="512064" cy="51206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229600" y="1499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2139696"/>
            <a:ext cx="512064" cy="51206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516368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/live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7534656" y="276148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last 200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as JSON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Polled every 3s by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page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9582912" y="2560320"/>
            <a:ext cx="146304" cy="91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9747504" y="1389888"/>
            <a:ext cx="2148840" cy="2450592"/>
          </a:xfrm>
          <a:prstGeom prst="rect">
            <a:avLst/>
          </a:prstGeom>
          <a:solidFill>
            <a:srgbClr val="FFFFFF"/>
          </a:solidFill>
          <a:ln w="889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9747504" y="1389888"/>
            <a:ext cx="21488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0552176" y="1499616"/>
            <a:ext cx="512064" cy="5120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10552176" y="1499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3032" y="2139696"/>
            <a:ext cx="512064" cy="51206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9838944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 Page</a:t>
            </a:r>
            <a:endParaRPr lang="en-US" sz="1150" dirty="0"/>
          </a:p>
        </p:txBody>
      </p:sp>
      <p:sp>
        <p:nvSpPr>
          <p:cNvPr id="47" name="Text 40"/>
          <p:cNvSpPr/>
          <p:nvPr/>
        </p:nvSpPr>
        <p:spPr>
          <a:xfrm>
            <a:off x="9857232" y="276148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Re-renders charts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bar: green/amber/red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+ table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 real time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457200" y="397764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Renders on Each Poll Cycle</a:t>
            </a:r>
            <a:endParaRPr lang="en-US" sz="1300" dirty="0"/>
          </a:p>
        </p:txBody>
      </p:sp>
      <p:sp>
        <p:nvSpPr>
          <p:cNvPr id="49" name="Shape 42"/>
          <p:cNvSpPr/>
          <p:nvPr/>
        </p:nvSpPr>
        <p:spPr>
          <a:xfrm>
            <a:off x="457200" y="4370832"/>
            <a:ext cx="374904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457200" y="4370832"/>
            <a:ext cx="50292" cy="10607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21792" y="4462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Bar</a:t>
            </a:r>
            <a:endParaRPr lang="en-US" sz="1150" dirty="0"/>
          </a:p>
        </p:txBody>
      </p:sp>
      <p:sp>
        <p:nvSpPr>
          <p:cNvPr id="52" name="Text 45"/>
          <p:cNvSpPr/>
          <p:nvPr/>
        </p:nvSpPr>
        <p:spPr>
          <a:xfrm>
            <a:off x="621792" y="479145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unit, cycle, RUL, risk, action, latency — green/amber/red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4370832" y="4370832"/>
            <a:ext cx="374904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4370832" y="4370832"/>
            <a:ext cx="50292" cy="106070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4535424" y="4462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</a:t>
            </a:r>
            <a:endParaRPr lang="en-US" sz="1150" dirty="0"/>
          </a:p>
        </p:txBody>
      </p:sp>
      <p:sp>
        <p:nvSpPr>
          <p:cNvPr id="56" name="Text 49"/>
          <p:cNvSpPr/>
          <p:nvPr/>
        </p:nvSpPr>
        <p:spPr>
          <a:xfrm>
            <a:off x="4535424" y="479145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predictions, anomalies, normal, avg RUL, avg risk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8284464" y="4370832"/>
            <a:ext cx="374904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58" name="Shape 51"/>
          <p:cNvSpPr/>
          <p:nvPr/>
        </p:nvSpPr>
        <p:spPr>
          <a:xfrm>
            <a:off x="8284464" y="4370832"/>
            <a:ext cx="50292" cy="106070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8449056" y="4462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Scatter</a:t>
            </a:r>
            <a:endParaRPr lang="en-US" sz="1150" dirty="0"/>
          </a:p>
        </p:txBody>
      </p:sp>
      <p:sp>
        <p:nvSpPr>
          <p:cNvPr id="60" name="Text 53"/>
          <p:cNvSpPr/>
          <p:nvPr/>
        </p:nvSpPr>
        <p:spPr>
          <a:xfrm>
            <a:off x="8449056" y="479145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dots = normal  |  Red dots = anomaly</a:t>
            </a:r>
            <a:endParaRPr lang="en-US" sz="1000" dirty="0"/>
          </a:p>
        </p:txBody>
      </p:sp>
      <p:sp>
        <p:nvSpPr>
          <p:cNvPr id="61" name="Shape 54"/>
          <p:cNvSpPr/>
          <p:nvPr/>
        </p:nvSpPr>
        <p:spPr>
          <a:xfrm>
            <a:off x="457200" y="5577840"/>
            <a:ext cx="374904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62" name="Shape 55"/>
          <p:cNvSpPr/>
          <p:nvPr/>
        </p:nvSpPr>
        <p:spPr>
          <a:xfrm>
            <a:off x="457200" y="5577840"/>
            <a:ext cx="50292" cy="10607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621792" y="5669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RUL Line</a:t>
            </a:r>
            <a:endParaRPr lang="en-US" sz="1150" dirty="0"/>
          </a:p>
        </p:txBody>
      </p:sp>
      <p:sp>
        <p:nvSpPr>
          <p:cNvPr id="64" name="Text 57"/>
          <p:cNvSpPr/>
          <p:nvPr/>
        </p:nvSpPr>
        <p:spPr>
          <a:xfrm>
            <a:off x="621792" y="599846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estimate evolving as predictions arrive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4370832" y="5577840"/>
            <a:ext cx="374904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66" name="Shape 59"/>
          <p:cNvSpPr/>
          <p:nvPr/>
        </p:nvSpPr>
        <p:spPr>
          <a:xfrm>
            <a:off x="4370832" y="5577840"/>
            <a:ext cx="50292" cy="10607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4535424" y="5669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Area Chart</a:t>
            </a:r>
            <a:endParaRPr lang="en-US" sz="1150" dirty="0"/>
          </a:p>
        </p:txBody>
      </p:sp>
      <p:sp>
        <p:nvSpPr>
          <p:cNvPr id="68" name="Text 61"/>
          <p:cNvSpPr/>
          <p:nvPr/>
        </p:nvSpPr>
        <p:spPr>
          <a:xfrm>
            <a:off x="4535424" y="599846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risk with 0.4 warning + 0.7 critical lines</a:t>
            </a:r>
            <a:endParaRPr lang="en-US" sz="1000" dirty="0"/>
          </a:p>
        </p:txBody>
      </p:sp>
      <p:sp>
        <p:nvSpPr>
          <p:cNvPr id="69" name="Shape 62"/>
          <p:cNvSpPr/>
          <p:nvPr/>
        </p:nvSpPr>
        <p:spPr>
          <a:xfrm>
            <a:off x="8284464" y="5577840"/>
            <a:ext cx="374904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70" name="Shape 63"/>
          <p:cNvSpPr/>
          <p:nvPr/>
        </p:nvSpPr>
        <p:spPr>
          <a:xfrm>
            <a:off x="8284464" y="5577840"/>
            <a:ext cx="50292" cy="106070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8449056" y="5669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Table</a:t>
            </a:r>
            <a:endParaRPr lang="en-US" sz="1150" dirty="0"/>
          </a:p>
        </p:txBody>
      </p:sp>
      <p:sp>
        <p:nvSpPr>
          <p:cNvPr id="72" name="Text 65"/>
          <p:cNvSpPr/>
          <p:nvPr/>
        </p:nvSpPr>
        <p:spPr>
          <a:xfrm>
            <a:off x="8449056" y="599846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20 predictions newest-first with timestamps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28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8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Monitoring Setup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panels to monitor API health, latency, anomaly rates, and system resources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Steps  (run once after docker compose up --build)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53949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36576" cy="56692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65376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 http://localhost:3000  →  Login:  admin  /  admin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5394960" cy="566928"/>
          </a:xfrm>
          <a:prstGeom prst="rect">
            <a:avLst/>
          </a:prstGeom>
          <a:solidFill>
            <a:srgbClr val="E2EDFA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68880"/>
            <a:ext cx="36576" cy="56692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23744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Settings  →  Data Sources  →  Add  →  Prometheus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53949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27248"/>
            <a:ext cx="36576" cy="56692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82112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URL field:  http://prometheus:9090  →  Save and Test  →  green tick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85616"/>
            <a:ext cx="5394960" cy="566928"/>
          </a:xfrm>
          <a:prstGeom prst="rect">
            <a:avLst/>
          </a:prstGeom>
          <a:solidFill>
            <a:srgbClr val="E2EDFA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85616"/>
            <a:ext cx="36576" cy="56692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4048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Dashboards  →  New  →  New Dashboard  →  Add Visualization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443984"/>
            <a:ext cx="53949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443984"/>
            <a:ext cx="36576" cy="56692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98848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Add each panel using the PromQL queries listed on the right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5102352"/>
            <a:ext cx="5394960" cy="566928"/>
          </a:xfrm>
          <a:prstGeom prst="rect">
            <a:avLst/>
          </a:prstGeom>
          <a:solidFill>
            <a:srgbClr val="E2EDFA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102352"/>
            <a:ext cx="36576" cy="56692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157216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Arrange panels into 3 rows  →  Name dashboard  →  Save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760720"/>
            <a:ext cx="53949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760720"/>
            <a:ext cx="36576" cy="56692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815584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Set auto-refresh to  5s  using the dropdown at top-right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62472" y="1371600"/>
            <a:ext cx="22860" cy="5212080"/>
          </a:xfrm>
          <a:prstGeom prst="rect">
            <a:avLst/>
          </a:prstGeom>
          <a:solidFill>
            <a:srgbClr val="C5D8F0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37160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PromQL Queries  (paste into query editor)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63640" y="1810512"/>
            <a:ext cx="18745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1810512"/>
            <a:ext cx="1874520" cy="5486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1920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Requests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55080" y="2267712"/>
            <a:ext cx="1691640" cy="8961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313432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telemetry_prediction_requests_total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29600" y="1810512"/>
            <a:ext cx="18745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29600" y="1810512"/>
            <a:ext cx="187452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0" y="1920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%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321040" y="2267712"/>
            <a:ext cx="1691640" cy="8961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66760" y="2313432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* failures_total / requests_total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195560" y="1810512"/>
            <a:ext cx="18745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195560" y="1810512"/>
            <a:ext cx="187452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87000" y="1920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 %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287000" y="2267712"/>
            <a:ext cx="1691640" cy="8961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32720" y="2313432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* anomalies_total / requests_total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63640" y="3474720"/>
            <a:ext cx="18745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63640" y="3474720"/>
            <a:ext cx="18745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35844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55080" y="3931920"/>
            <a:ext cx="1691640" cy="8961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39776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rate(latency_sum[5m]) / rate(latency_count[5m])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229600" y="3474720"/>
            <a:ext cx="18745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229600" y="3474720"/>
            <a:ext cx="187452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21040" y="35844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321040" y="3931920"/>
            <a:ext cx="1691640" cy="8961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66760" y="39776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histogram_quantile(0.95, rate(latency_bucket[5m]))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0195560" y="3474720"/>
            <a:ext cx="18745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0195560" y="3474720"/>
            <a:ext cx="187452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87000" y="35844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(RSS)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0287000" y="3931920"/>
            <a:ext cx="1691640" cy="8961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332720" y="397764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process_resident_memory_bytes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63640" y="5138928"/>
            <a:ext cx="18745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263640" y="5138928"/>
            <a:ext cx="187452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52486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Rate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355080" y="5596128"/>
            <a:ext cx="1691640" cy="8961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564184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rate(process_cpu_seconds_total[5m])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229600" y="5138928"/>
            <a:ext cx="18745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229600" y="5138928"/>
            <a:ext cx="187452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21040" y="52486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Check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321040" y="5596128"/>
            <a:ext cx="1691640" cy="8961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66760" y="564184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python_gc_objects_uncollectable_total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0195560" y="5138928"/>
            <a:ext cx="18745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0195560" y="5138928"/>
            <a:ext cx="187452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287000" y="52486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Over Time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10287000" y="5596128"/>
            <a:ext cx="1691640" cy="896112"/>
          </a:xfrm>
          <a:prstGeom prst="rect">
            <a:avLst/>
          </a:prstGeom>
          <a:solidFill>
            <a:srgbClr val="E2EDFA"/>
          </a:solidFill>
          <a:ln w="3810">
            <a:solidFill>
              <a:srgbClr val="C5D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332720" y="564184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rate(telemetry_anomalies_detected_total[5m])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28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128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8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Advantages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performance metrics and what makes this project stand 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89888"/>
            <a:ext cx="278892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89888"/>
            <a:ext cx="27889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6304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~0.38s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API latency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01568" y="1389888"/>
            <a:ext cx="278892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01568" y="1389888"/>
            <a:ext cx="2788920" cy="5486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46304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93008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processed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45936" y="1389888"/>
            <a:ext cx="278892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45936" y="1389888"/>
            <a:ext cx="278892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146304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37376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failures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90304" y="1389888"/>
            <a:ext cx="278892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90304" y="1389888"/>
            <a:ext cx="278892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81744" y="146304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2.76%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381744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 (live)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578608"/>
            <a:ext cx="37490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578608"/>
            <a:ext cx="3749040" cy="5486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127248"/>
            <a:ext cx="566928" cy="56692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53312" y="2743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1792" y="376732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human input from sensor to recommendation. Works during 44-min Mars blackout.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370832" y="2578608"/>
            <a:ext cx="37490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70832" y="2578608"/>
            <a:ext cx="37490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3127248"/>
            <a:ext cx="566928" cy="56692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66944" y="2743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Redundancy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535424" y="376732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anomaly detectors + two RUL predictors cross-check each other. No single point of failure.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8284464" y="2578608"/>
            <a:ext cx="37490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8284464" y="2578608"/>
            <a:ext cx="37490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3127248"/>
            <a:ext cx="566928" cy="56692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180576" y="2743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8449056" y="376732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has a plain-English justification. Fully auditable for aerospace certification.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57200" y="4608576"/>
            <a:ext cx="37490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57200" y="4608576"/>
            <a:ext cx="374904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5157216"/>
            <a:ext cx="566928" cy="56692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1353312" y="4773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via RL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621792" y="57972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agent discovers optimal policies for situations not explicitly programmed.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370832" y="4608576"/>
            <a:ext cx="37490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4370832" y="4608576"/>
            <a:ext cx="37490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5157216"/>
            <a:ext cx="566928" cy="56692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266944" y="4773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Deploy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4535424" y="57972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Docker containers, single command, runs on any machine — laptop or spacecraft.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284464" y="4608576"/>
            <a:ext cx="37490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1B3A6B">
                <a:alpha val="10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8284464" y="4608576"/>
            <a:ext cx="374904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6" y="5157216"/>
            <a:ext cx="566928" cy="566928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9180576" y="4773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Self-Monitoring</a:t>
            </a:r>
            <a:endParaRPr lang="en-US" sz="1300" dirty="0"/>
          </a:p>
        </p:txBody>
      </p:sp>
      <p:sp>
        <p:nvSpPr>
          <p:cNvPr id="54" name="Text 46"/>
          <p:cNvSpPr/>
          <p:nvPr/>
        </p:nvSpPr>
        <p:spPr>
          <a:xfrm>
            <a:off x="8449056" y="57972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track every request, latency, anomaly — system monitors itself.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548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969264"/>
            <a:ext cx="5029200" cy="1243584"/>
          </a:xfrm>
          <a:prstGeom prst="rect">
            <a:avLst/>
          </a:prstGeom>
          <a:solidFill>
            <a:srgbClr val="122C48"/>
          </a:solidFill>
          <a:ln w="5080">
            <a:solidFill>
              <a:srgbClr val="1E4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69264"/>
            <a:ext cx="50292" cy="124358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07899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aerospace problem solved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44-minute Mars delay makes ground control impossible. This system fills that gap.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86584"/>
            <a:ext cx="5029200" cy="1243584"/>
          </a:xfrm>
          <a:prstGeom prst="rect">
            <a:avLst/>
          </a:prstGeom>
          <a:solidFill>
            <a:srgbClr val="122C48"/>
          </a:solidFill>
          <a:ln w="5080">
            <a:solidFill>
              <a:srgbClr val="1E4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86584"/>
            <a:ext cx="50292" cy="124358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9631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system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286207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data → AI models → live dashboard, API, Kafka, monitoring — one command.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03904"/>
            <a:ext cx="5029200" cy="1243584"/>
          </a:xfrm>
          <a:prstGeom prst="rect">
            <a:avLst/>
          </a:prstGeom>
          <a:solidFill>
            <a:srgbClr val="122C48"/>
          </a:solidFill>
          <a:ln w="5080">
            <a:solidFill>
              <a:srgbClr val="1E4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03904"/>
            <a:ext cx="50292" cy="124358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1363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dashboard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427939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Kafka prediction reflects on the dashboard in real time via GET /live polling.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221224"/>
            <a:ext cx="5029200" cy="1243584"/>
          </a:xfrm>
          <a:prstGeom prst="rect">
            <a:avLst/>
          </a:prstGeom>
          <a:solidFill>
            <a:srgbClr val="122C48"/>
          </a:solidFill>
          <a:ln w="5080">
            <a:solidFill>
              <a:srgbClr val="1E4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221224"/>
            <a:ext cx="50292" cy="124358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3309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and trustworthy AI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569671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decisions, self-monitoring, no black boxes — aerospace-grade.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658368"/>
            <a:ext cx="54864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demonstrates that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health management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 space missions is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today.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863840" y="2331720"/>
            <a:ext cx="2560320" cy="274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23744"/>
            <a:ext cx="5760720" cy="74066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400800" y="341985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Purushothaman 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00800" y="3767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M25DE1033  |  M.Tech Data Engineering  |  IIT Jodhpur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400800" y="4187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00800" y="444398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TensorFlow  |  scikit-learn  |  FastAPI  |  Kafka  |  Streamlit  |  Docker  |  Prometheus  |  Grafana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400800" y="4919472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1" name="Text 28"/>
          <p:cNvSpPr/>
          <p:nvPr/>
        </p:nvSpPr>
        <p:spPr>
          <a:xfrm>
            <a:off x="11686032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2090</Words>
  <Application>Microsoft Office PowerPoint</Application>
  <PresentationFormat>Widescreen</PresentationFormat>
  <Paragraphs>462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Space Telemetry Anomaly Detection</dc:title>
  <dc:subject>PptxGenJS Presentation</dc:subject>
  <dc:creator>Purushothaman Shanmugam</dc:creator>
  <cp:lastModifiedBy>Purushothaman Shanmugam</cp:lastModifiedBy>
  <cp:revision>4</cp:revision>
  <dcterms:created xsi:type="dcterms:W3CDTF">2026-03-21T12:01:17Z</dcterms:created>
  <dcterms:modified xsi:type="dcterms:W3CDTF">2026-03-21T13:30:11Z</dcterms:modified>
</cp:coreProperties>
</file>